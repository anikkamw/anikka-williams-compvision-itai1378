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7" d="100"/>
          <a:sy n="47" d="100"/>
        </p:scale>
        <p:origin x="1046"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kka Williams" userId="0234ac51b7bbf84b" providerId="LiveId" clId="{F5F0F907-3E60-4B6B-9392-71DC91A3F14D}"/>
    <pc:docChg chg="undo custSel modSld">
      <pc:chgData name="Anikka Williams" userId="0234ac51b7bbf84b" providerId="LiveId" clId="{F5F0F907-3E60-4B6B-9392-71DC91A3F14D}" dt="2026-03-05T09:13:11.124" v="136" actId="14734"/>
      <pc:docMkLst>
        <pc:docMk/>
      </pc:docMkLst>
      <pc:sldChg chg="modSp mod">
        <pc:chgData name="Anikka Williams" userId="0234ac51b7bbf84b" providerId="LiveId" clId="{F5F0F907-3E60-4B6B-9392-71DC91A3F14D}" dt="2026-03-05T08:12:37.628" v="121" actId="20577"/>
        <pc:sldMkLst>
          <pc:docMk/>
          <pc:sldMk cId="1948022209" sldId="256"/>
        </pc:sldMkLst>
        <pc:spChg chg="mod">
          <ac:chgData name="Anikka Williams" userId="0234ac51b7bbf84b" providerId="LiveId" clId="{F5F0F907-3E60-4B6B-9392-71DC91A3F14D}" dt="2026-03-05T08:11:45.586" v="55" actId="313"/>
          <ac:spMkLst>
            <pc:docMk/>
            <pc:sldMk cId="1948022209" sldId="256"/>
            <ac:spMk id="6" creationId="{38150C22-C05E-4B1E-D087-836FB7DC17E7}"/>
          </ac:spMkLst>
        </pc:spChg>
        <pc:spChg chg="mod">
          <ac:chgData name="Anikka Williams" userId="0234ac51b7bbf84b" providerId="LiveId" clId="{F5F0F907-3E60-4B6B-9392-71DC91A3F14D}" dt="2026-03-05T08:12:37.628" v="121" actId="20577"/>
          <ac:spMkLst>
            <pc:docMk/>
            <pc:sldMk cId="1948022209" sldId="256"/>
            <ac:spMk id="7" creationId="{BA5B2051-4724-AFB2-3888-E41C4A388ACF}"/>
          </ac:spMkLst>
        </pc:spChg>
      </pc:sldChg>
      <pc:sldChg chg="modSp mod">
        <pc:chgData name="Anikka Williams" userId="0234ac51b7bbf84b" providerId="LiveId" clId="{F5F0F907-3E60-4B6B-9392-71DC91A3F14D}" dt="2026-03-05T08:15:03.927" v="122" actId="33524"/>
        <pc:sldMkLst>
          <pc:docMk/>
          <pc:sldMk cId="2563746969" sldId="258"/>
        </pc:sldMkLst>
        <pc:spChg chg="mod">
          <ac:chgData name="Anikka Williams" userId="0234ac51b7bbf84b" providerId="LiveId" clId="{F5F0F907-3E60-4B6B-9392-71DC91A3F14D}" dt="2026-03-05T08:15:03.927" v="122" actId="33524"/>
          <ac:spMkLst>
            <pc:docMk/>
            <pc:sldMk cId="2563746969" sldId="258"/>
            <ac:spMk id="3" creationId="{FA0F76C4-2212-A0F7-F6E9-73AD6B157D79}"/>
          </ac:spMkLst>
        </pc:spChg>
      </pc:sldChg>
      <pc:sldChg chg="modSp mod">
        <pc:chgData name="Anikka Williams" userId="0234ac51b7bbf84b" providerId="LiveId" clId="{F5F0F907-3E60-4B6B-9392-71DC91A3F14D}" dt="2026-03-05T09:13:11.124" v="136" actId="14734"/>
        <pc:sldMkLst>
          <pc:docMk/>
          <pc:sldMk cId="2868201963" sldId="263"/>
        </pc:sldMkLst>
        <pc:graphicFrameChg chg="modGraphic">
          <ac:chgData name="Anikka Williams" userId="0234ac51b7bbf84b" providerId="LiveId" clId="{F5F0F907-3E60-4B6B-9392-71DC91A3F14D}" dt="2026-03-05T09:13:11.124" v="136" actId="14734"/>
          <ac:graphicFrameMkLst>
            <pc:docMk/>
            <pc:sldMk cId="2868201963" sldId="263"/>
            <ac:graphicFrameMk id="4" creationId="{DD29B0DA-E981-E2C7-4B1D-CE391987A65A}"/>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84734B-D6CD-49BD-B584-98D02CA07E09}"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7618F8E8-B5AA-44B8-9F48-925413D7FBD8}">
      <dgm:prSet phldrT="[Text]" phldr="0"/>
      <dgm:spPr/>
      <dgm:t>
        <a:bodyPr/>
        <a:lstStyle/>
        <a:p>
          <a:r>
            <a:rPr lang="en-US" dirty="0"/>
            <a:t>Input: User uploads a high resolution photo of canine skin lesion.</a:t>
          </a:r>
        </a:p>
      </dgm:t>
    </dgm:pt>
    <dgm:pt modelId="{E277BC3F-FC37-49DE-B071-8CA2570F1C70}" type="parTrans" cxnId="{677DC7CF-2C81-4646-BD1A-2C038AAA2ABF}">
      <dgm:prSet/>
      <dgm:spPr/>
      <dgm:t>
        <a:bodyPr/>
        <a:lstStyle/>
        <a:p>
          <a:endParaRPr lang="en-US"/>
        </a:p>
      </dgm:t>
    </dgm:pt>
    <dgm:pt modelId="{C2651D91-4A08-4175-8283-70AB64788771}" type="sibTrans" cxnId="{677DC7CF-2C81-4646-BD1A-2C038AAA2ABF}">
      <dgm:prSet/>
      <dgm:spPr/>
      <dgm:t>
        <a:bodyPr/>
        <a:lstStyle/>
        <a:p>
          <a:endParaRPr lang="en-US"/>
        </a:p>
      </dgm:t>
    </dgm:pt>
    <dgm:pt modelId="{86C1A031-1C9D-418B-A63C-20C7D2B6A56C}">
      <dgm:prSet phldrT="[Text]" phldr="0"/>
      <dgm:spPr/>
      <dgm:t>
        <a:bodyPr/>
        <a:lstStyle/>
        <a:p>
          <a:r>
            <a:rPr lang="en-US" dirty="0"/>
            <a:t>Pre-Processing: The image is resized and normalized.</a:t>
          </a:r>
        </a:p>
      </dgm:t>
    </dgm:pt>
    <dgm:pt modelId="{0BA1B771-DC6C-49F4-B46F-38CBCA1B8E81}" type="parTrans" cxnId="{BB2F3060-DBE1-48AC-8B67-3BFEA5440919}">
      <dgm:prSet/>
      <dgm:spPr/>
      <dgm:t>
        <a:bodyPr/>
        <a:lstStyle/>
        <a:p>
          <a:endParaRPr lang="en-US"/>
        </a:p>
      </dgm:t>
    </dgm:pt>
    <dgm:pt modelId="{4741D2EB-CE99-4EAF-96F3-BEC1E4E9DC30}" type="sibTrans" cxnId="{BB2F3060-DBE1-48AC-8B67-3BFEA5440919}">
      <dgm:prSet/>
      <dgm:spPr/>
      <dgm:t>
        <a:bodyPr/>
        <a:lstStyle/>
        <a:p>
          <a:endParaRPr lang="en-US"/>
        </a:p>
      </dgm:t>
    </dgm:pt>
    <dgm:pt modelId="{630513CB-82A7-4DC9-BD18-B988D1837402}">
      <dgm:prSet phldrT="[Text]" phldr="0"/>
      <dgm:spPr/>
      <dgm:t>
        <a:bodyPr/>
        <a:lstStyle/>
        <a:p>
          <a:r>
            <a:rPr lang="en-US" dirty="0"/>
            <a:t>AI Analysis: YOLOv8 scans the image to detect the location of the lesion.</a:t>
          </a:r>
        </a:p>
      </dgm:t>
    </dgm:pt>
    <dgm:pt modelId="{53F55073-467E-4211-B246-772A536419DB}" type="parTrans" cxnId="{C5AF38AC-4323-4908-B5E9-44C31FD92147}">
      <dgm:prSet/>
      <dgm:spPr/>
      <dgm:t>
        <a:bodyPr/>
        <a:lstStyle/>
        <a:p>
          <a:endParaRPr lang="en-US"/>
        </a:p>
      </dgm:t>
    </dgm:pt>
    <dgm:pt modelId="{9C9D959E-289D-453B-868A-13B43C6532D8}" type="sibTrans" cxnId="{C5AF38AC-4323-4908-B5E9-44C31FD92147}">
      <dgm:prSet/>
      <dgm:spPr/>
      <dgm:t>
        <a:bodyPr/>
        <a:lstStyle/>
        <a:p>
          <a:endParaRPr lang="en-US"/>
        </a:p>
      </dgm:t>
    </dgm:pt>
    <dgm:pt modelId="{DF8F4BE1-AF79-420A-AB7C-CB65D7D8847F}">
      <dgm:prSet phldrT="[Text]" phldr="0"/>
      <dgm:spPr/>
      <dgm:t>
        <a:bodyPr/>
        <a:lstStyle/>
        <a:p>
          <a:r>
            <a:rPr lang="en-US" dirty="0"/>
            <a:t>The model classifies the pattern(Sarcoptic, Demodectic)</a:t>
          </a:r>
        </a:p>
      </dgm:t>
    </dgm:pt>
    <dgm:pt modelId="{398614C0-4B92-4D13-9043-BFAAE850B2B8}" type="parTrans" cxnId="{AC25E53D-972E-41C2-9FD7-18D1ECF8C823}">
      <dgm:prSet/>
      <dgm:spPr/>
      <dgm:t>
        <a:bodyPr/>
        <a:lstStyle/>
        <a:p>
          <a:endParaRPr lang="en-US"/>
        </a:p>
      </dgm:t>
    </dgm:pt>
    <dgm:pt modelId="{B6249BD6-4E3D-4A96-96C0-553DB49836FF}" type="sibTrans" cxnId="{AC25E53D-972E-41C2-9FD7-18D1ECF8C823}">
      <dgm:prSet/>
      <dgm:spPr/>
      <dgm:t>
        <a:bodyPr/>
        <a:lstStyle/>
        <a:p>
          <a:endParaRPr lang="en-US"/>
        </a:p>
      </dgm:t>
    </dgm:pt>
    <dgm:pt modelId="{850626AA-4CC6-43CE-BCC9-CBB4898F4B5B}">
      <dgm:prSet phldrT="[Text]" phldr="0"/>
      <dgm:spPr/>
      <dgm:t>
        <a:bodyPr/>
        <a:lstStyle/>
        <a:p>
          <a:r>
            <a:rPr lang="en-US" dirty="0"/>
            <a:t>Output: A visual bounding box around the lesion with a text label and a confidence score.</a:t>
          </a:r>
        </a:p>
      </dgm:t>
    </dgm:pt>
    <dgm:pt modelId="{0DF05E96-95A9-4532-B8DB-4344C4963830}" type="parTrans" cxnId="{B5A8937F-2502-412E-B243-49047DF421BE}">
      <dgm:prSet/>
      <dgm:spPr/>
      <dgm:t>
        <a:bodyPr/>
        <a:lstStyle/>
        <a:p>
          <a:endParaRPr lang="en-US"/>
        </a:p>
      </dgm:t>
    </dgm:pt>
    <dgm:pt modelId="{143EA976-9707-4215-A3BC-D86A5D53F4E9}" type="sibTrans" cxnId="{B5A8937F-2502-412E-B243-49047DF421BE}">
      <dgm:prSet/>
      <dgm:spPr/>
      <dgm:t>
        <a:bodyPr/>
        <a:lstStyle/>
        <a:p>
          <a:endParaRPr lang="en-US"/>
        </a:p>
      </dgm:t>
    </dgm:pt>
    <dgm:pt modelId="{6BEEC05E-30E6-4028-B8F9-1ABD7C868FC7}" type="pres">
      <dgm:prSet presAssocID="{CA84734B-D6CD-49BD-B584-98D02CA07E09}" presName="diagram" presStyleCnt="0">
        <dgm:presLayoutVars>
          <dgm:dir/>
          <dgm:resizeHandles val="exact"/>
        </dgm:presLayoutVars>
      </dgm:prSet>
      <dgm:spPr/>
    </dgm:pt>
    <dgm:pt modelId="{9950DDD1-26C3-4D78-B4F2-A74F9E536E2B}" type="pres">
      <dgm:prSet presAssocID="{7618F8E8-B5AA-44B8-9F48-925413D7FBD8}" presName="node" presStyleLbl="node1" presStyleIdx="0" presStyleCnt="5">
        <dgm:presLayoutVars>
          <dgm:bulletEnabled val="1"/>
        </dgm:presLayoutVars>
      </dgm:prSet>
      <dgm:spPr/>
    </dgm:pt>
    <dgm:pt modelId="{0F6316D3-D9FE-45E6-9A75-E8A627E05153}" type="pres">
      <dgm:prSet presAssocID="{C2651D91-4A08-4175-8283-70AB64788771}" presName="sibTrans" presStyleLbl="sibTrans2D1" presStyleIdx="0" presStyleCnt="4"/>
      <dgm:spPr/>
    </dgm:pt>
    <dgm:pt modelId="{D905EF86-5AA7-44E3-BF91-D6C4CF110A93}" type="pres">
      <dgm:prSet presAssocID="{C2651D91-4A08-4175-8283-70AB64788771}" presName="connectorText" presStyleLbl="sibTrans2D1" presStyleIdx="0" presStyleCnt="4"/>
      <dgm:spPr/>
    </dgm:pt>
    <dgm:pt modelId="{B6133B5D-B28A-454F-B42B-6E0E431A2901}" type="pres">
      <dgm:prSet presAssocID="{86C1A031-1C9D-418B-A63C-20C7D2B6A56C}" presName="node" presStyleLbl="node1" presStyleIdx="1" presStyleCnt="5">
        <dgm:presLayoutVars>
          <dgm:bulletEnabled val="1"/>
        </dgm:presLayoutVars>
      </dgm:prSet>
      <dgm:spPr/>
    </dgm:pt>
    <dgm:pt modelId="{AA66354C-A269-4F9C-8DBE-47BA50E7D71C}" type="pres">
      <dgm:prSet presAssocID="{4741D2EB-CE99-4EAF-96F3-BEC1E4E9DC30}" presName="sibTrans" presStyleLbl="sibTrans2D1" presStyleIdx="1" presStyleCnt="4"/>
      <dgm:spPr/>
    </dgm:pt>
    <dgm:pt modelId="{192F283F-09B3-4AE3-89C2-A13633B339E6}" type="pres">
      <dgm:prSet presAssocID="{4741D2EB-CE99-4EAF-96F3-BEC1E4E9DC30}" presName="connectorText" presStyleLbl="sibTrans2D1" presStyleIdx="1" presStyleCnt="4"/>
      <dgm:spPr/>
    </dgm:pt>
    <dgm:pt modelId="{6FE21FED-AD04-4067-B269-64D1E6BA5DF4}" type="pres">
      <dgm:prSet presAssocID="{630513CB-82A7-4DC9-BD18-B988D1837402}" presName="node" presStyleLbl="node1" presStyleIdx="2" presStyleCnt="5">
        <dgm:presLayoutVars>
          <dgm:bulletEnabled val="1"/>
        </dgm:presLayoutVars>
      </dgm:prSet>
      <dgm:spPr/>
    </dgm:pt>
    <dgm:pt modelId="{E25526FB-B948-4D82-8069-B30D7DFE4DE2}" type="pres">
      <dgm:prSet presAssocID="{9C9D959E-289D-453B-868A-13B43C6532D8}" presName="sibTrans" presStyleLbl="sibTrans2D1" presStyleIdx="2" presStyleCnt="4"/>
      <dgm:spPr/>
    </dgm:pt>
    <dgm:pt modelId="{4E839C84-2978-4C2F-B1AE-3D0066916AAC}" type="pres">
      <dgm:prSet presAssocID="{9C9D959E-289D-453B-868A-13B43C6532D8}" presName="connectorText" presStyleLbl="sibTrans2D1" presStyleIdx="2" presStyleCnt="4"/>
      <dgm:spPr/>
    </dgm:pt>
    <dgm:pt modelId="{787BF465-AAA8-4443-AFD2-9D6786BA0970}" type="pres">
      <dgm:prSet presAssocID="{DF8F4BE1-AF79-420A-AB7C-CB65D7D8847F}" presName="node" presStyleLbl="node1" presStyleIdx="3" presStyleCnt="5">
        <dgm:presLayoutVars>
          <dgm:bulletEnabled val="1"/>
        </dgm:presLayoutVars>
      </dgm:prSet>
      <dgm:spPr/>
    </dgm:pt>
    <dgm:pt modelId="{F2BFE3C4-CE3E-4E63-BFD1-667B35A0913D}" type="pres">
      <dgm:prSet presAssocID="{B6249BD6-4E3D-4A96-96C0-553DB49836FF}" presName="sibTrans" presStyleLbl="sibTrans2D1" presStyleIdx="3" presStyleCnt="4"/>
      <dgm:spPr/>
    </dgm:pt>
    <dgm:pt modelId="{305D0F7E-1AEB-4999-9D02-A2CB50C2349C}" type="pres">
      <dgm:prSet presAssocID="{B6249BD6-4E3D-4A96-96C0-553DB49836FF}" presName="connectorText" presStyleLbl="sibTrans2D1" presStyleIdx="3" presStyleCnt="4"/>
      <dgm:spPr/>
    </dgm:pt>
    <dgm:pt modelId="{D7A91A6E-EC4C-4AF5-887D-2FBC745AD1E2}" type="pres">
      <dgm:prSet presAssocID="{850626AA-4CC6-43CE-BCC9-CBB4898F4B5B}" presName="node" presStyleLbl="node1" presStyleIdx="4" presStyleCnt="5">
        <dgm:presLayoutVars>
          <dgm:bulletEnabled val="1"/>
        </dgm:presLayoutVars>
      </dgm:prSet>
      <dgm:spPr/>
    </dgm:pt>
  </dgm:ptLst>
  <dgm:cxnLst>
    <dgm:cxn modelId="{BF706917-0986-46C6-86E9-5DCCF64C2919}" type="presOf" srcId="{C2651D91-4A08-4175-8283-70AB64788771}" destId="{0F6316D3-D9FE-45E6-9A75-E8A627E05153}" srcOrd="0" destOrd="0" presId="urn:microsoft.com/office/officeart/2005/8/layout/process5"/>
    <dgm:cxn modelId="{B0AFC438-4F28-480A-9C3B-39FC85CC0838}" type="presOf" srcId="{850626AA-4CC6-43CE-BCC9-CBB4898F4B5B}" destId="{D7A91A6E-EC4C-4AF5-887D-2FBC745AD1E2}" srcOrd="0" destOrd="0" presId="urn:microsoft.com/office/officeart/2005/8/layout/process5"/>
    <dgm:cxn modelId="{AC25E53D-972E-41C2-9FD7-18D1ECF8C823}" srcId="{CA84734B-D6CD-49BD-B584-98D02CA07E09}" destId="{DF8F4BE1-AF79-420A-AB7C-CB65D7D8847F}" srcOrd="3" destOrd="0" parTransId="{398614C0-4B92-4D13-9043-BFAAE850B2B8}" sibTransId="{B6249BD6-4E3D-4A96-96C0-553DB49836FF}"/>
    <dgm:cxn modelId="{BB2F3060-DBE1-48AC-8B67-3BFEA5440919}" srcId="{CA84734B-D6CD-49BD-B584-98D02CA07E09}" destId="{86C1A031-1C9D-418B-A63C-20C7D2B6A56C}" srcOrd="1" destOrd="0" parTransId="{0BA1B771-DC6C-49F4-B46F-38CBCA1B8E81}" sibTransId="{4741D2EB-CE99-4EAF-96F3-BEC1E4E9DC30}"/>
    <dgm:cxn modelId="{74735363-ADA8-4056-AF2B-0C9C4445A6B9}" type="presOf" srcId="{9C9D959E-289D-453B-868A-13B43C6532D8}" destId="{E25526FB-B948-4D82-8069-B30D7DFE4DE2}" srcOrd="0" destOrd="0" presId="urn:microsoft.com/office/officeart/2005/8/layout/process5"/>
    <dgm:cxn modelId="{D9D96568-6D05-4C9E-95DA-682684712ABE}" type="presOf" srcId="{DF8F4BE1-AF79-420A-AB7C-CB65D7D8847F}" destId="{787BF465-AAA8-4443-AFD2-9D6786BA0970}" srcOrd="0" destOrd="0" presId="urn:microsoft.com/office/officeart/2005/8/layout/process5"/>
    <dgm:cxn modelId="{4C46E26E-FCDD-413F-8FE6-FA0DF4D3BAF2}" type="presOf" srcId="{B6249BD6-4E3D-4A96-96C0-553DB49836FF}" destId="{305D0F7E-1AEB-4999-9D02-A2CB50C2349C}" srcOrd="1" destOrd="0" presId="urn:microsoft.com/office/officeart/2005/8/layout/process5"/>
    <dgm:cxn modelId="{C584C97A-40AE-4E76-873D-22868DF9AD3C}" type="presOf" srcId="{9C9D959E-289D-453B-868A-13B43C6532D8}" destId="{4E839C84-2978-4C2F-B1AE-3D0066916AAC}" srcOrd="1" destOrd="0" presId="urn:microsoft.com/office/officeart/2005/8/layout/process5"/>
    <dgm:cxn modelId="{C0EE6C7E-6976-41D9-A3FC-A04F9E998B51}" type="presOf" srcId="{4741D2EB-CE99-4EAF-96F3-BEC1E4E9DC30}" destId="{AA66354C-A269-4F9C-8DBE-47BA50E7D71C}" srcOrd="0" destOrd="0" presId="urn:microsoft.com/office/officeart/2005/8/layout/process5"/>
    <dgm:cxn modelId="{B5A8937F-2502-412E-B243-49047DF421BE}" srcId="{CA84734B-D6CD-49BD-B584-98D02CA07E09}" destId="{850626AA-4CC6-43CE-BCC9-CBB4898F4B5B}" srcOrd="4" destOrd="0" parTransId="{0DF05E96-95A9-4532-B8DB-4344C4963830}" sibTransId="{143EA976-9707-4215-A3BC-D86A5D53F4E9}"/>
    <dgm:cxn modelId="{25083989-D481-4C5E-89C7-82CAD26E76BE}" type="presOf" srcId="{7618F8E8-B5AA-44B8-9F48-925413D7FBD8}" destId="{9950DDD1-26C3-4D78-B4F2-A74F9E536E2B}" srcOrd="0" destOrd="0" presId="urn:microsoft.com/office/officeart/2005/8/layout/process5"/>
    <dgm:cxn modelId="{80F691A0-0786-4ECD-AEAC-E690BA370E7A}" type="presOf" srcId="{B6249BD6-4E3D-4A96-96C0-553DB49836FF}" destId="{F2BFE3C4-CE3E-4E63-BFD1-667B35A0913D}" srcOrd="0" destOrd="0" presId="urn:microsoft.com/office/officeart/2005/8/layout/process5"/>
    <dgm:cxn modelId="{45ED08A2-C51C-4662-880C-C4420EDA29F4}" type="presOf" srcId="{4741D2EB-CE99-4EAF-96F3-BEC1E4E9DC30}" destId="{192F283F-09B3-4AE3-89C2-A13633B339E6}" srcOrd="1" destOrd="0" presId="urn:microsoft.com/office/officeart/2005/8/layout/process5"/>
    <dgm:cxn modelId="{C5AF38AC-4323-4908-B5E9-44C31FD92147}" srcId="{CA84734B-D6CD-49BD-B584-98D02CA07E09}" destId="{630513CB-82A7-4DC9-BD18-B988D1837402}" srcOrd="2" destOrd="0" parTransId="{53F55073-467E-4211-B246-772A536419DB}" sibTransId="{9C9D959E-289D-453B-868A-13B43C6532D8}"/>
    <dgm:cxn modelId="{B95D9FB7-3A01-41C0-8005-B45B1963BC53}" type="presOf" srcId="{CA84734B-D6CD-49BD-B584-98D02CA07E09}" destId="{6BEEC05E-30E6-4028-B8F9-1ABD7C868FC7}" srcOrd="0" destOrd="0" presId="urn:microsoft.com/office/officeart/2005/8/layout/process5"/>
    <dgm:cxn modelId="{6567BAB8-93AF-45B6-AD67-F4D7E564261C}" type="presOf" srcId="{86C1A031-1C9D-418B-A63C-20C7D2B6A56C}" destId="{B6133B5D-B28A-454F-B42B-6E0E431A2901}" srcOrd="0" destOrd="0" presId="urn:microsoft.com/office/officeart/2005/8/layout/process5"/>
    <dgm:cxn modelId="{6B5183C0-8143-409A-9C5C-43F0D9081F0F}" type="presOf" srcId="{C2651D91-4A08-4175-8283-70AB64788771}" destId="{D905EF86-5AA7-44E3-BF91-D6C4CF110A93}" srcOrd="1" destOrd="0" presId="urn:microsoft.com/office/officeart/2005/8/layout/process5"/>
    <dgm:cxn modelId="{677DC7CF-2C81-4646-BD1A-2C038AAA2ABF}" srcId="{CA84734B-D6CD-49BD-B584-98D02CA07E09}" destId="{7618F8E8-B5AA-44B8-9F48-925413D7FBD8}" srcOrd="0" destOrd="0" parTransId="{E277BC3F-FC37-49DE-B071-8CA2570F1C70}" sibTransId="{C2651D91-4A08-4175-8283-70AB64788771}"/>
    <dgm:cxn modelId="{C26804EF-F156-48CC-82D6-D2DE7383A167}" type="presOf" srcId="{630513CB-82A7-4DC9-BD18-B988D1837402}" destId="{6FE21FED-AD04-4067-B269-64D1E6BA5DF4}" srcOrd="0" destOrd="0" presId="urn:microsoft.com/office/officeart/2005/8/layout/process5"/>
    <dgm:cxn modelId="{210E39A5-6765-4B68-981D-737518321D38}" type="presParOf" srcId="{6BEEC05E-30E6-4028-B8F9-1ABD7C868FC7}" destId="{9950DDD1-26C3-4D78-B4F2-A74F9E536E2B}" srcOrd="0" destOrd="0" presId="urn:microsoft.com/office/officeart/2005/8/layout/process5"/>
    <dgm:cxn modelId="{BB5DCB24-8754-4801-931A-4B5BA47C2130}" type="presParOf" srcId="{6BEEC05E-30E6-4028-B8F9-1ABD7C868FC7}" destId="{0F6316D3-D9FE-45E6-9A75-E8A627E05153}" srcOrd="1" destOrd="0" presId="urn:microsoft.com/office/officeart/2005/8/layout/process5"/>
    <dgm:cxn modelId="{7BAD3A62-B207-4DAF-9D9C-DDA5B704A8E5}" type="presParOf" srcId="{0F6316D3-D9FE-45E6-9A75-E8A627E05153}" destId="{D905EF86-5AA7-44E3-BF91-D6C4CF110A93}" srcOrd="0" destOrd="0" presId="urn:microsoft.com/office/officeart/2005/8/layout/process5"/>
    <dgm:cxn modelId="{EC738042-94BA-461B-AE35-D53C8B0848F0}" type="presParOf" srcId="{6BEEC05E-30E6-4028-B8F9-1ABD7C868FC7}" destId="{B6133B5D-B28A-454F-B42B-6E0E431A2901}" srcOrd="2" destOrd="0" presId="urn:microsoft.com/office/officeart/2005/8/layout/process5"/>
    <dgm:cxn modelId="{0C6C0DF4-1339-4F29-96C9-0E7C473A496F}" type="presParOf" srcId="{6BEEC05E-30E6-4028-B8F9-1ABD7C868FC7}" destId="{AA66354C-A269-4F9C-8DBE-47BA50E7D71C}" srcOrd="3" destOrd="0" presId="urn:microsoft.com/office/officeart/2005/8/layout/process5"/>
    <dgm:cxn modelId="{73FD69D2-34DB-431F-AF98-0BFD65C33446}" type="presParOf" srcId="{AA66354C-A269-4F9C-8DBE-47BA50E7D71C}" destId="{192F283F-09B3-4AE3-89C2-A13633B339E6}" srcOrd="0" destOrd="0" presId="urn:microsoft.com/office/officeart/2005/8/layout/process5"/>
    <dgm:cxn modelId="{169EF2A5-9948-4C54-8B81-7BE12AC46F36}" type="presParOf" srcId="{6BEEC05E-30E6-4028-B8F9-1ABD7C868FC7}" destId="{6FE21FED-AD04-4067-B269-64D1E6BA5DF4}" srcOrd="4" destOrd="0" presId="urn:microsoft.com/office/officeart/2005/8/layout/process5"/>
    <dgm:cxn modelId="{8F76BC97-3DB2-4C42-ACA9-20CE462D33BD}" type="presParOf" srcId="{6BEEC05E-30E6-4028-B8F9-1ABD7C868FC7}" destId="{E25526FB-B948-4D82-8069-B30D7DFE4DE2}" srcOrd="5" destOrd="0" presId="urn:microsoft.com/office/officeart/2005/8/layout/process5"/>
    <dgm:cxn modelId="{B2188D4D-BFE8-4A48-AD37-769B137E197A}" type="presParOf" srcId="{E25526FB-B948-4D82-8069-B30D7DFE4DE2}" destId="{4E839C84-2978-4C2F-B1AE-3D0066916AAC}" srcOrd="0" destOrd="0" presId="urn:microsoft.com/office/officeart/2005/8/layout/process5"/>
    <dgm:cxn modelId="{6C24702C-7B0B-419E-A75E-A366E62D7D70}" type="presParOf" srcId="{6BEEC05E-30E6-4028-B8F9-1ABD7C868FC7}" destId="{787BF465-AAA8-4443-AFD2-9D6786BA0970}" srcOrd="6" destOrd="0" presId="urn:microsoft.com/office/officeart/2005/8/layout/process5"/>
    <dgm:cxn modelId="{C4807483-7413-495D-A691-0C052443F55F}" type="presParOf" srcId="{6BEEC05E-30E6-4028-B8F9-1ABD7C868FC7}" destId="{F2BFE3C4-CE3E-4E63-BFD1-667B35A0913D}" srcOrd="7" destOrd="0" presId="urn:microsoft.com/office/officeart/2005/8/layout/process5"/>
    <dgm:cxn modelId="{46512DC0-E1E0-4D12-9EF3-FF1C7DF134A5}" type="presParOf" srcId="{F2BFE3C4-CE3E-4E63-BFD1-667B35A0913D}" destId="{305D0F7E-1AEB-4999-9D02-A2CB50C2349C}" srcOrd="0" destOrd="0" presId="urn:microsoft.com/office/officeart/2005/8/layout/process5"/>
    <dgm:cxn modelId="{ACCD0143-35C6-4105-B1F3-98A975A623E4}" type="presParOf" srcId="{6BEEC05E-30E6-4028-B8F9-1ABD7C868FC7}" destId="{D7A91A6E-EC4C-4AF5-887D-2FBC745AD1E2}" srcOrd="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50DDD1-26C3-4D78-B4F2-A74F9E536E2B}">
      <dsp:nvSpPr>
        <dsp:cNvPr id="0" name=""/>
        <dsp:cNvSpPr/>
      </dsp:nvSpPr>
      <dsp:spPr>
        <a:xfrm>
          <a:off x="97043" y="2718"/>
          <a:ext cx="2716187" cy="16297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Input: User uploads a high resolution photo of canine skin lesion.</a:t>
          </a:r>
        </a:p>
      </dsp:txBody>
      <dsp:txXfrm>
        <a:off x="144776" y="50451"/>
        <a:ext cx="2620721" cy="1534246"/>
      </dsp:txXfrm>
    </dsp:sp>
    <dsp:sp modelId="{0F6316D3-D9FE-45E6-9A75-E8A627E05153}">
      <dsp:nvSpPr>
        <dsp:cNvPr id="0" name=""/>
        <dsp:cNvSpPr/>
      </dsp:nvSpPr>
      <dsp:spPr>
        <a:xfrm>
          <a:off x="3052255" y="480767"/>
          <a:ext cx="575831" cy="6736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3052255" y="615490"/>
        <a:ext cx="403082" cy="404168"/>
      </dsp:txXfrm>
    </dsp:sp>
    <dsp:sp modelId="{B6133B5D-B28A-454F-B42B-6E0E431A2901}">
      <dsp:nvSpPr>
        <dsp:cNvPr id="0" name=""/>
        <dsp:cNvSpPr/>
      </dsp:nvSpPr>
      <dsp:spPr>
        <a:xfrm>
          <a:off x="3899706" y="2718"/>
          <a:ext cx="2716187" cy="16297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Pre-Processing: The image is resized and normalized.</a:t>
          </a:r>
        </a:p>
      </dsp:txBody>
      <dsp:txXfrm>
        <a:off x="3947439" y="50451"/>
        <a:ext cx="2620721" cy="1534246"/>
      </dsp:txXfrm>
    </dsp:sp>
    <dsp:sp modelId="{AA66354C-A269-4F9C-8DBE-47BA50E7D71C}">
      <dsp:nvSpPr>
        <dsp:cNvPr id="0" name=""/>
        <dsp:cNvSpPr/>
      </dsp:nvSpPr>
      <dsp:spPr>
        <a:xfrm>
          <a:off x="6854918" y="480767"/>
          <a:ext cx="575831" cy="6736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6854918" y="615490"/>
        <a:ext cx="403082" cy="404168"/>
      </dsp:txXfrm>
    </dsp:sp>
    <dsp:sp modelId="{6FE21FED-AD04-4067-B269-64D1E6BA5DF4}">
      <dsp:nvSpPr>
        <dsp:cNvPr id="0" name=""/>
        <dsp:cNvSpPr/>
      </dsp:nvSpPr>
      <dsp:spPr>
        <a:xfrm>
          <a:off x="7702368" y="2718"/>
          <a:ext cx="2716187" cy="16297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AI Analysis: YOLOv8 scans the image to detect the location of the lesion.</a:t>
          </a:r>
        </a:p>
      </dsp:txBody>
      <dsp:txXfrm>
        <a:off x="7750101" y="50451"/>
        <a:ext cx="2620721" cy="1534246"/>
      </dsp:txXfrm>
    </dsp:sp>
    <dsp:sp modelId="{E25526FB-B948-4D82-8069-B30D7DFE4DE2}">
      <dsp:nvSpPr>
        <dsp:cNvPr id="0" name=""/>
        <dsp:cNvSpPr/>
      </dsp:nvSpPr>
      <dsp:spPr>
        <a:xfrm rot="5400000">
          <a:off x="8772546" y="1822564"/>
          <a:ext cx="575831" cy="6736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5400000">
        <a:off x="8858378" y="1871456"/>
        <a:ext cx="404168" cy="403082"/>
      </dsp:txXfrm>
    </dsp:sp>
    <dsp:sp modelId="{787BF465-AAA8-4443-AFD2-9D6786BA0970}">
      <dsp:nvSpPr>
        <dsp:cNvPr id="0" name=""/>
        <dsp:cNvSpPr/>
      </dsp:nvSpPr>
      <dsp:spPr>
        <a:xfrm>
          <a:off x="7702368" y="2718906"/>
          <a:ext cx="2716187" cy="16297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The model classifies the pattern(Sarcoptic, Demodectic)</a:t>
          </a:r>
        </a:p>
      </dsp:txBody>
      <dsp:txXfrm>
        <a:off x="7750101" y="2766639"/>
        <a:ext cx="2620721" cy="1534246"/>
      </dsp:txXfrm>
    </dsp:sp>
    <dsp:sp modelId="{F2BFE3C4-CE3E-4E63-BFD1-667B35A0913D}">
      <dsp:nvSpPr>
        <dsp:cNvPr id="0" name=""/>
        <dsp:cNvSpPr/>
      </dsp:nvSpPr>
      <dsp:spPr>
        <a:xfrm rot="10800000">
          <a:off x="6887512" y="3196955"/>
          <a:ext cx="575831" cy="6736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7060261" y="3331678"/>
        <a:ext cx="403082" cy="404168"/>
      </dsp:txXfrm>
    </dsp:sp>
    <dsp:sp modelId="{D7A91A6E-EC4C-4AF5-887D-2FBC745AD1E2}">
      <dsp:nvSpPr>
        <dsp:cNvPr id="0" name=""/>
        <dsp:cNvSpPr/>
      </dsp:nvSpPr>
      <dsp:spPr>
        <a:xfrm>
          <a:off x="3899706" y="2718906"/>
          <a:ext cx="2716187" cy="16297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Output: A visual bounding box around the lesion with a text label and a confidence score.</a:t>
          </a:r>
        </a:p>
      </dsp:txBody>
      <dsp:txXfrm>
        <a:off x="3947439" y="2766639"/>
        <a:ext cx="2620721" cy="1534246"/>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A81C3-7D70-DB7E-376E-2EF6507B7A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06F080-A5F6-DB03-A027-6BE000160E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79EF6C7-2169-D6ED-72EA-9161273666F4}"/>
              </a:ext>
            </a:extLst>
          </p:cNvPr>
          <p:cNvSpPr>
            <a:spLocks noGrp="1"/>
          </p:cNvSpPr>
          <p:nvPr>
            <p:ph type="dt" sz="half" idx="10"/>
          </p:nvPr>
        </p:nvSpPr>
        <p:spPr/>
        <p:txBody>
          <a:bodyPr/>
          <a:lstStyle/>
          <a:p>
            <a:fld id="{790EC6A5-2313-4F75-8102-3523A70F8E8F}" type="datetimeFigureOut">
              <a:rPr lang="en-US" smtClean="0"/>
              <a:t>5/6/2026</a:t>
            </a:fld>
            <a:endParaRPr lang="en-US"/>
          </a:p>
        </p:txBody>
      </p:sp>
      <p:sp>
        <p:nvSpPr>
          <p:cNvPr id="5" name="Footer Placeholder 4">
            <a:extLst>
              <a:ext uri="{FF2B5EF4-FFF2-40B4-BE49-F238E27FC236}">
                <a16:creationId xmlns:a16="http://schemas.microsoft.com/office/drawing/2014/main" id="{0D60C347-0BBB-F3C8-D37F-4ED1E9610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DA7EAA-DBB1-FED4-378B-B5A83C239E31}"/>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1907612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19252-BC92-4E76-8BF3-FE29EE8EA4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C3AFEE-9A22-1961-96AB-846558A6CB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8017D9-E6F3-E1D0-F9E3-07BA3209DE13}"/>
              </a:ext>
            </a:extLst>
          </p:cNvPr>
          <p:cNvSpPr>
            <a:spLocks noGrp="1"/>
          </p:cNvSpPr>
          <p:nvPr>
            <p:ph type="dt" sz="half" idx="10"/>
          </p:nvPr>
        </p:nvSpPr>
        <p:spPr/>
        <p:txBody>
          <a:bodyPr/>
          <a:lstStyle/>
          <a:p>
            <a:fld id="{790EC6A5-2313-4F75-8102-3523A70F8E8F}" type="datetimeFigureOut">
              <a:rPr lang="en-US" smtClean="0"/>
              <a:t>5/6/2026</a:t>
            </a:fld>
            <a:endParaRPr lang="en-US"/>
          </a:p>
        </p:txBody>
      </p:sp>
      <p:sp>
        <p:nvSpPr>
          <p:cNvPr id="5" name="Footer Placeholder 4">
            <a:extLst>
              <a:ext uri="{FF2B5EF4-FFF2-40B4-BE49-F238E27FC236}">
                <a16:creationId xmlns:a16="http://schemas.microsoft.com/office/drawing/2014/main" id="{1F4F5329-8698-3FB0-3833-AF171A554B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35CA8F-B97D-3A8D-CF7D-DFCF15DE1C3C}"/>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256524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7BFFD-A650-B3EE-C13A-D8597203AB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6B3D4A-0EF2-03B9-1163-A0E817F1182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1C669E-CE7D-26EF-ABEC-956D6DE47950}"/>
              </a:ext>
            </a:extLst>
          </p:cNvPr>
          <p:cNvSpPr>
            <a:spLocks noGrp="1"/>
          </p:cNvSpPr>
          <p:nvPr>
            <p:ph type="dt" sz="half" idx="10"/>
          </p:nvPr>
        </p:nvSpPr>
        <p:spPr/>
        <p:txBody>
          <a:bodyPr/>
          <a:lstStyle/>
          <a:p>
            <a:fld id="{790EC6A5-2313-4F75-8102-3523A70F8E8F}" type="datetimeFigureOut">
              <a:rPr lang="en-US" smtClean="0"/>
              <a:t>5/6/2026</a:t>
            </a:fld>
            <a:endParaRPr lang="en-US"/>
          </a:p>
        </p:txBody>
      </p:sp>
      <p:sp>
        <p:nvSpPr>
          <p:cNvPr id="5" name="Footer Placeholder 4">
            <a:extLst>
              <a:ext uri="{FF2B5EF4-FFF2-40B4-BE49-F238E27FC236}">
                <a16:creationId xmlns:a16="http://schemas.microsoft.com/office/drawing/2014/main" id="{508E6E9E-1520-21DA-11A6-A7A46A09BF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D5131B-4588-A877-44D5-5A793DFA943B}"/>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3153054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29BB9-4281-389E-69A2-FB4CE3CA26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1E9A28-BD99-CACF-D1D5-51D94879BE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0D3E30-A4B2-D237-9372-B27F63E0F2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26BD64-8467-22F3-D964-71324BC443B2}"/>
              </a:ext>
            </a:extLst>
          </p:cNvPr>
          <p:cNvSpPr>
            <a:spLocks noGrp="1"/>
          </p:cNvSpPr>
          <p:nvPr>
            <p:ph type="dt" sz="half" idx="10"/>
          </p:nvPr>
        </p:nvSpPr>
        <p:spPr/>
        <p:txBody>
          <a:bodyPr/>
          <a:lstStyle/>
          <a:p>
            <a:fld id="{790EC6A5-2313-4F75-8102-3523A70F8E8F}" type="datetimeFigureOut">
              <a:rPr lang="en-US" smtClean="0"/>
              <a:t>5/6/2026</a:t>
            </a:fld>
            <a:endParaRPr lang="en-US"/>
          </a:p>
        </p:txBody>
      </p:sp>
      <p:sp>
        <p:nvSpPr>
          <p:cNvPr id="6" name="Footer Placeholder 5">
            <a:extLst>
              <a:ext uri="{FF2B5EF4-FFF2-40B4-BE49-F238E27FC236}">
                <a16:creationId xmlns:a16="http://schemas.microsoft.com/office/drawing/2014/main" id="{D57ED781-5367-0E46-A70C-73892BA415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071395-02FF-EBB2-7845-A4DDAE6CE2D9}"/>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4005513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CFD01-436C-2AD1-54AE-0E695C3CEE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A843977-7472-4611-2F58-21D18B8113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F44E3A-1140-B4C0-8FBB-7C51168D85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366981-ED7D-8EB7-F909-FC87B2834C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757A0A-8AA3-0BE0-51CA-D5B0F29FDE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022F28-860C-3B9E-D777-BC4FAAD02E9B}"/>
              </a:ext>
            </a:extLst>
          </p:cNvPr>
          <p:cNvSpPr>
            <a:spLocks noGrp="1"/>
          </p:cNvSpPr>
          <p:nvPr>
            <p:ph type="dt" sz="half" idx="10"/>
          </p:nvPr>
        </p:nvSpPr>
        <p:spPr/>
        <p:txBody>
          <a:bodyPr/>
          <a:lstStyle/>
          <a:p>
            <a:fld id="{790EC6A5-2313-4F75-8102-3523A70F8E8F}" type="datetimeFigureOut">
              <a:rPr lang="en-US" smtClean="0"/>
              <a:t>5/6/2026</a:t>
            </a:fld>
            <a:endParaRPr lang="en-US"/>
          </a:p>
        </p:txBody>
      </p:sp>
      <p:sp>
        <p:nvSpPr>
          <p:cNvPr id="8" name="Footer Placeholder 7">
            <a:extLst>
              <a:ext uri="{FF2B5EF4-FFF2-40B4-BE49-F238E27FC236}">
                <a16:creationId xmlns:a16="http://schemas.microsoft.com/office/drawing/2014/main" id="{DAA1A31E-CE13-0CED-0540-12DF0FD4EA9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62E1FC-AECE-BE1E-071D-2C3C5D7A499B}"/>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4244161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4E65F-7A6D-1C8C-7EE1-3F935525FAB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12B31D-7DBE-12A1-8F84-788A8F5978D5}"/>
              </a:ext>
            </a:extLst>
          </p:cNvPr>
          <p:cNvSpPr>
            <a:spLocks noGrp="1"/>
          </p:cNvSpPr>
          <p:nvPr>
            <p:ph type="dt" sz="half" idx="10"/>
          </p:nvPr>
        </p:nvSpPr>
        <p:spPr/>
        <p:txBody>
          <a:bodyPr/>
          <a:lstStyle/>
          <a:p>
            <a:fld id="{790EC6A5-2313-4F75-8102-3523A70F8E8F}" type="datetimeFigureOut">
              <a:rPr lang="en-US" smtClean="0"/>
              <a:t>5/6/2026</a:t>
            </a:fld>
            <a:endParaRPr lang="en-US"/>
          </a:p>
        </p:txBody>
      </p:sp>
      <p:sp>
        <p:nvSpPr>
          <p:cNvPr id="4" name="Footer Placeholder 3">
            <a:extLst>
              <a:ext uri="{FF2B5EF4-FFF2-40B4-BE49-F238E27FC236}">
                <a16:creationId xmlns:a16="http://schemas.microsoft.com/office/drawing/2014/main" id="{F9A7F221-EDA9-0325-8496-027DCB4E33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D6E4C3-1F0C-9F28-D04B-D7B444B5D14F}"/>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1073056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C4526B-4ADE-80AD-C1A1-A3192DEA76C5}"/>
              </a:ext>
            </a:extLst>
          </p:cNvPr>
          <p:cNvSpPr>
            <a:spLocks noGrp="1"/>
          </p:cNvSpPr>
          <p:nvPr>
            <p:ph type="dt" sz="half" idx="10"/>
          </p:nvPr>
        </p:nvSpPr>
        <p:spPr/>
        <p:txBody>
          <a:bodyPr/>
          <a:lstStyle/>
          <a:p>
            <a:fld id="{790EC6A5-2313-4F75-8102-3523A70F8E8F}" type="datetimeFigureOut">
              <a:rPr lang="en-US" smtClean="0"/>
              <a:t>5/6/2026</a:t>
            </a:fld>
            <a:endParaRPr lang="en-US"/>
          </a:p>
        </p:txBody>
      </p:sp>
      <p:sp>
        <p:nvSpPr>
          <p:cNvPr id="3" name="Footer Placeholder 2">
            <a:extLst>
              <a:ext uri="{FF2B5EF4-FFF2-40B4-BE49-F238E27FC236}">
                <a16:creationId xmlns:a16="http://schemas.microsoft.com/office/drawing/2014/main" id="{D92B1D4C-797F-EAF2-07E6-9F88949607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2E32C9-5FD7-0AAA-498F-D13F246CA45C}"/>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3657858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13F47-76E8-C6B1-57DD-48DE7A7485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1B397F-BED3-0AD1-C163-3D5D4B701A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E138BA-098C-4E22-E4FE-B88C59688C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5B8738-0495-435F-7BD9-ABAACD34BBDE}"/>
              </a:ext>
            </a:extLst>
          </p:cNvPr>
          <p:cNvSpPr>
            <a:spLocks noGrp="1"/>
          </p:cNvSpPr>
          <p:nvPr>
            <p:ph type="dt" sz="half" idx="10"/>
          </p:nvPr>
        </p:nvSpPr>
        <p:spPr/>
        <p:txBody>
          <a:bodyPr/>
          <a:lstStyle/>
          <a:p>
            <a:fld id="{790EC6A5-2313-4F75-8102-3523A70F8E8F}" type="datetimeFigureOut">
              <a:rPr lang="en-US" smtClean="0"/>
              <a:t>5/6/2026</a:t>
            </a:fld>
            <a:endParaRPr lang="en-US"/>
          </a:p>
        </p:txBody>
      </p:sp>
      <p:sp>
        <p:nvSpPr>
          <p:cNvPr id="6" name="Footer Placeholder 5">
            <a:extLst>
              <a:ext uri="{FF2B5EF4-FFF2-40B4-BE49-F238E27FC236}">
                <a16:creationId xmlns:a16="http://schemas.microsoft.com/office/drawing/2014/main" id="{A2818369-9079-1F0D-9CC6-14DC91180A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A32C22-B31D-EE0E-76EE-A7DA49EFBCD4}"/>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3404796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7F94A-6AE1-FDA3-EEB5-6BB51E9BB6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D3EBFD-F350-6B4E-0C0A-62C641EDAB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89D068-C76C-9305-8BC8-3BF2C92BF7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ACFF04-1D4F-64BC-6F1D-64269690D4E7}"/>
              </a:ext>
            </a:extLst>
          </p:cNvPr>
          <p:cNvSpPr>
            <a:spLocks noGrp="1"/>
          </p:cNvSpPr>
          <p:nvPr>
            <p:ph type="dt" sz="half" idx="10"/>
          </p:nvPr>
        </p:nvSpPr>
        <p:spPr/>
        <p:txBody>
          <a:bodyPr/>
          <a:lstStyle/>
          <a:p>
            <a:fld id="{790EC6A5-2313-4F75-8102-3523A70F8E8F}" type="datetimeFigureOut">
              <a:rPr lang="en-US" smtClean="0"/>
              <a:t>5/6/2026</a:t>
            </a:fld>
            <a:endParaRPr lang="en-US"/>
          </a:p>
        </p:txBody>
      </p:sp>
      <p:sp>
        <p:nvSpPr>
          <p:cNvPr id="6" name="Footer Placeholder 5">
            <a:extLst>
              <a:ext uri="{FF2B5EF4-FFF2-40B4-BE49-F238E27FC236}">
                <a16:creationId xmlns:a16="http://schemas.microsoft.com/office/drawing/2014/main" id="{8F945846-CD46-C861-52F1-45E31C164F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0A4DF2-DA60-F075-ED93-355CC80B0BD3}"/>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3748264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66FA1-1383-523D-55F7-C3EFB0DEAE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8EADE54-26AB-7D4E-193E-7EA988A5B7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2798FD-A62B-B6C0-492F-4A86EB1A0C02}"/>
              </a:ext>
            </a:extLst>
          </p:cNvPr>
          <p:cNvSpPr>
            <a:spLocks noGrp="1"/>
          </p:cNvSpPr>
          <p:nvPr>
            <p:ph type="dt" sz="half" idx="10"/>
          </p:nvPr>
        </p:nvSpPr>
        <p:spPr/>
        <p:txBody>
          <a:bodyPr/>
          <a:lstStyle/>
          <a:p>
            <a:fld id="{790EC6A5-2313-4F75-8102-3523A70F8E8F}" type="datetimeFigureOut">
              <a:rPr lang="en-US" smtClean="0"/>
              <a:t>5/6/2026</a:t>
            </a:fld>
            <a:endParaRPr lang="en-US"/>
          </a:p>
        </p:txBody>
      </p:sp>
      <p:sp>
        <p:nvSpPr>
          <p:cNvPr id="5" name="Footer Placeholder 4">
            <a:extLst>
              <a:ext uri="{FF2B5EF4-FFF2-40B4-BE49-F238E27FC236}">
                <a16:creationId xmlns:a16="http://schemas.microsoft.com/office/drawing/2014/main" id="{D70C306E-A907-880B-4C7F-78DEFE7301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67D5E9-DCBC-A58D-E0B8-678CF682BADF}"/>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2299481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48BBD0-C755-EF51-0EB1-FFA7E4CB80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6342ED-434D-496C-B8A5-B52EB511E4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248383-13B8-8F50-33F3-E84CEC0BCC86}"/>
              </a:ext>
            </a:extLst>
          </p:cNvPr>
          <p:cNvSpPr>
            <a:spLocks noGrp="1"/>
          </p:cNvSpPr>
          <p:nvPr>
            <p:ph type="dt" sz="half" idx="10"/>
          </p:nvPr>
        </p:nvSpPr>
        <p:spPr/>
        <p:txBody>
          <a:bodyPr/>
          <a:lstStyle/>
          <a:p>
            <a:fld id="{790EC6A5-2313-4F75-8102-3523A70F8E8F}" type="datetimeFigureOut">
              <a:rPr lang="en-US" smtClean="0"/>
              <a:t>5/6/2026</a:t>
            </a:fld>
            <a:endParaRPr lang="en-US"/>
          </a:p>
        </p:txBody>
      </p:sp>
      <p:sp>
        <p:nvSpPr>
          <p:cNvPr id="5" name="Footer Placeholder 4">
            <a:extLst>
              <a:ext uri="{FF2B5EF4-FFF2-40B4-BE49-F238E27FC236}">
                <a16:creationId xmlns:a16="http://schemas.microsoft.com/office/drawing/2014/main" id="{440A7321-8799-F72C-6AE9-CE8B3BB11E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D36A4-EF93-A6F7-4447-B8D20136702F}"/>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3582601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E56AA0-A65A-C446-1589-23FFAE2273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F2675A-0CF7-9245-6DC9-0757CFA62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7D64C5-787F-7A98-ACEF-D00F6CD3A1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0EC6A5-2313-4F75-8102-3523A70F8E8F}" type="datetimeFigureOut">
              <a:rPr lang="en-US" smtClean="0"/>
              <a:t>5/6/2026</a:t>
            </a:fld>
            <a:endParaRPr lang="en-US"/>
          </a:p>
        </p:txBody>
      </p:sp>
      <p:sp>
        <p:nvSpPr>
          <p:cNvPr id="5" name="Footer Placeholder 4">
            <a:extLst>
              <a:ext uri="{FF2B5EF4-FFF2-40B4-BE49-F238E27FC236}">
                <a16:creationId xmlns:a16="http://schemas.microsoft.com/office/drawing/2014/main" id="{FB64078B-A194-6C8D-24EC-BD09E2B598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94079A-9A65-8747-FD89-CFF65BC6EB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5632B6-B40D-4A01-A472-9A98AB216FD8}" type="slidenum">
              <a:rPr lang="en-US" smtClean="0"/>
              <a:t>‹#›</a:t>
            </a:fld>
            <a:endParaRPr lang="en-US"/>
          </a:p>
        </p:txBody>
      </p:sp>
    </p:spTree>
    <p:extLst>
      <p:ext uri="{BB962C8B-B14F-4D97-AF65-F5344CB8AC3E}">
        <p14:creationId xmlns:p14="http://schemas.microsoft.com/office/powerpoint/2010/main" val="37303582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kaggle.com/datasets/devdope/skin-disease-raw-dataset" TargetMode="External"/><Relationship Id="rId2" Type="http://schemas.openxmlformats.org/officeDocument/2006/relationships/hyperlink" Target="https://www.kaggle.com/datasets/youssefmohmmed/dogs-skin-diseases-image-datase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8150C22-C05E-4B1E-D087-836FB7DC17E7}"/>
              </a:ext>
            </a:extLst>
          </p:cNvPr>
          <p:cNvSpPr>
            <a:spLocks noGrp="1"/>
          </p:cNvSpPr>
          <p:nvPr>
            <p:ph type="ctrTitle"/>
          </p:nvPr>
        </p:nvSpPr>
        <p:spPr/>
        <p:txBody>
          <a:bodyPr>
            <a:normAutofit fontScale="90000"/>
          </a:bodyPr>
          <a:lstStyle/>
          <a:p>
            <a:r>
              <a:rPr lang="en-US" dirty="0" err="1"/>
              <a:t>MangeVision</a:t>
            </a:r>
            <a:r>
              <a:rPr lang="en-US" dirty="0"/>
              <a:t>: Differentiating Sarcoptic vs Demodectic Mange</a:t>
            </a:r>
          </a:p>
        </p:txBody>
      </p:sp>
      <p:sp>
        <p:nvSpPr>
          <p:cNvPr id="7" name="Subtitle 6">
            <a:extLst>
              <a:ext uri="{FF2B5EF4-FFF2-40B4-BE49-F238E27FC236}">
                <a16:creationId xmlns:a16="http://schemas.microsoft.com/office/drawing/2014/main" id="{BA5B2051-4724-AFB2-3888-E41C4A388ACF}"/>
              </a:ext>
            </a:extLst>
          </p:cNvPr>
          <p:cNvSpPr>
            <a:spLocks noGrp="1"/>
          </p:cNvSpPr>
          <p:nvPr>
            <p:ph type="subTitle" idx="1"/>
          </p:nvPr>
        </p:nvSpPr>
        <p:spPr/>
        <p:txBody>
          <a:bodyPr/>
          <a:lstStyle/>
          <a:p>
            <a:r>
              <a:rPr lang="en-US" dirty="0"/>
              <a:t>Anikka Williams</a:t>
            </a:r>
          </a:p>
          <a:p>
            <a:r>
              <a:rPr lang="en-US" dirty="0"/>
              <a:t>Tier 1-My project is Tier 1 it is a simpler project built from pre-trained models.</a:t>
            </a:r>
          </a:p>
        </p:txBody>
      </p:sp>
    </p:spTree>
    <p:extLst>
      <p:ext uri="{BB962C8B-B14F-4D97-AF65-F5344CB8AC3E}">
        <p14:creationId xmlns:p14="http://schemas.microsoft.com/office/powerpoint/2010/main" val="1948022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443E0-D78C-6F19-6F1C-DDE603139AE0}"/>
              </a:ext>
            </a:extLst>
          </p:cNvPr>
          <p:cNvSpPr>
            <a:spLocks noGrp="1"/>
          </p:cNvSpPr>
          <p:nvPr>
            <p:ph type="title"/>
          </p:nvPr>
        </p:nvSpPr>
        <p:spPr/>
        <p:txBody>
          <a:bodyPr/>
          <a:lstStyle/>
          <a:p>
            <a:r>
              <a:rPr lang="en-US" dirty="0"/>
              <a:t>The Problem</a:t>
            </a:r>
          </a:p>
        </p:txBody>
      </p:sp>
      <p:sp>
        <p:nvSpPr>
          <p:cNvPr id="3" name="Content Placeholder 2">
            <a:extLst>
              <a:ext uri="{FF2B5EF4-FFF2-40B4-BE49-F238E27FC236}">
                <a16:creationId xmlns:a16="http://schemas.microsoft.com/office/drawing/2014/main" id="{18E4E3DD-7E59-49E2-4423-950E7E7624A2}"/>
              </a:ext>
            </a:extLst>
          </p:cNvPr>
          <p:cNvSpPr>
            <a:spLocks noGrp="1"/>
          </p:cNvSpPr>
          <p:nvPr>
            <p:ph idx="1"/>
          </p:nvPr>
        </p:nvSpPr>
        <p:spPr/>
        <p:txBody>
          <a:bodyPr/>
          <a:lstStyle/>
          <a:p>
            <a:r>
              <a:rPr lang="en-US" dirty="0"/>
              <a:t>The real-world problem that I am addressing is the manual diagnosis of mange. As I previously worked in a veterinary clinic, I know firsthand that the process of scraping the animal's skin is time consuming, and uncomfortable for the animal. If the sample acquired didn’t capture the mites it would require another skin scraping and more discomfort to the animal.</a:t>
            </a:r>
          </a:p>
          <a:p>
            <a:r>
              <a:rPr lang="en-US" dirty="0"/>
              <a:t>Who cares about this problem would be veterinarians, veterinary staff members, and pet owners.</a:t>
            </a:r>
          </a:p>
          <a:p>
            <a:r>
              <a:rPr lang="en-US" dirty="0"/>
              <a:t>This is important because sarcoptic mange is highly contagious to other animals and humans, so correct diagnosis is critical. </a:t>
            </a:r>
          </a:p>
        </p:txBody>
      </p:sp>
    </p:spTree>
    <p:extLst>
      <p:ext uri="{BB962C8B-B14F-4D97-AF65-F5344CB8AC3E}">
        <p14:creationId xmlns:p14="http://schemas.microsoft.com/office/powerpoint/2010/main" val="1453278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29338-9EDC-8D15-075D-4962E84028A2}"/>
              </a:ext>
            </a:extLst>
          </p:cNvPr>
          <p:cNvSpPr>
            <a:spLocks noGrp="1"/>
          </p:cNvSpPr>
          <p:nvPr>
            <p:ph type="title"/>
          </p:nvPr>
        </p:nvSpPr>
        <p:spPr/>
        <p:txBody>
          <a:bodyPr/>
          <a:lstStyle/>
          <a:p>
            <a:r>
              <a:rPr lang="en-US" dirty="0"/>
              <a:t>My Solution</a:t>
            </a:r>
          </a:p>
        </p:txBody>
      </p:sp>
      <p:sp>
        <p:nvSpPr>
          <p:cNvPr id="3" name="Content Placeholder 2">
            <a:extLst>
              <a:ext uri="{FF2B5EF4-FFF2-40B4-BE49-F238E27FC236}">
                <a16:creationId xmlns:a16="http://schemas.microsoft.com/office/drawing/2014/main" id="{FA0F76C4-2212-A0F7-F6E9-73AD6B157D79}"/>
              </a:ext>
            </a:extLst>
          </p:cNvPr>
          <p:cNvSpPr>
            <a:spLocks noGrp="1"/>
          </p:cNvSpPr>
          <p:nvPr>
            <p:ph idx="1"/>
          </p:nvPr>
        </p:nvSpPr>
        <p:spPr/>
        <p:txBody>
          <a:bodyPr/>
          <a:lstStyle/>
          <a:p>
            <a:pPr marL="0" indent="0">
              <a:buNone/>
            </a:pPr>
            <a:r>
              <a:rPr lang="en-US" dirty="0"/>
              <a:t>My system will be a vison based diagnostic tool that will analyze photos of skin lesions and detect characteristics between Sarcoptic (contagious) and Demodectic (noncontagious) mange.</a:t>
            </a:r>
          </a:p>
        </p:txBody>
      </p:sp>
    </p:spTree>
    <p:extLst>
      <p:ext uri="{BB962C8B-B14F-4D97-AF65-F5344CB8AC3E}">
        <p14:creationId xmlns:p14="http://schemas.microsoft.com/office/powerpoint/2010/main" val="2563746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6079A-B311-2E1C-9B7E-7CE3727BACCB}"/>
              </a:ext>
            </a:extLst>
          </p:cNvPr>
          <p:cNvSpPr>
            <a:spLocks noGrp="1"/>
          </p:cNvSpPr>
          <p:nvPr>
            <p:ph type="title"/>
          </p:nvPr>
        </p:nvSpPr>
        <p:spPr/>
        <p:txBody>
          <a:bodyPr/>
          <a:lstStyle/>
          <a:p>
            <a:r>
              <a:rPr lang="en-US" dirty="0"/>
              <a:t>Technical Approach</a:t>
            </a:r>
          </a:p>
        </p:txBody>
      </p:sp>
      <p:sp>
        <p:nvSpPr>
          <p:cNvPr id="3" name="Content Placeholder 2">
            <a:extLst>
              <a:ext uri="{FF2B5EF4-FFF2-40B4-BE49-F238E27FC236}">
                <a16:creationId xmlns:a16="http://schemas.microsoft.com/office/drawing/2014/main" id="{DF1A028F-83FF-8EF4-41D4-76392188713E}"/>
              </a:ext>
            </a:extLst>
          </p:cNvPr>
          <p:cNvSpPr>
            <a:spLocks noGrp="1"/>
          </p:cNvSpPr>
          <p:nvPr>
            <p:ph idx="1"/>
          </p:nvPr>
        </p:nvSpPr>
        <p:spPr/>
        <p:txBody>
          <a:bodyPr/>
          <a:lstStyle/>
          <a:p>
            <a:r>
              <a:rPr lang="en-US" dirty="0"/>
              <a:t>CV Technique: Object Detection &amp; Classification</a:t>
            </a:r>
          </a:p>
          <a:p>
            <a:r>
              <a:rPr lang="en-US" dirty="0"/>
              <a:t>Model: YOLOv8</a:t>
            </a:r>
          </a:p>
          <a:p>
            <a:r>
              <a:rPr lang="en-US" dirty="0"/>
              <a:t>Framework: </a:t>
            </a:r>
            <a:r>
              <a:rPr lang="en-US" dirty="0" err="1"/>
              <a:t>PyTorch</a:t>
            </a:r>
            <a:endParaRPr lang="en-US" dirty="0"/>
          </a:p>
          <a:p>
            <a:r>
              <a:rPr lang="en-US" dirty="0"/>
              <a:t>Why: My technique will use object detection to locate specific lesions on the skin, and classification to determine the type of mange. I chose YOLOv8 because it is famous for being 'real-time,' meaning it can identify skin issues almost instantly, and I selected </a:t>
            </a:r>
            <a:r>
              <a:rPr lang="en-US" dirty="0" err="1"/>
              <a:t>PyTorch</a:t>
            </a:r>
            <a:r>
              <a:rPr lang="en-US" dirty="0"/>
              <a:t> because it is a beginner-friendly framework that makes it easy to experiment with different neural network settings.</a:t>
            </a:r>
          </a:p>
        </p:txBody>
      </p:sp>
    </p:spTree>
    <p:extLst>
      <p:ext uri="{BB962C8B-B14F-4D97-AF65-F5344CB8AC3E}">
        <p14:creationId xmlns:p14="http://schemas.microsoft.com/office/powerpoint/2010/main" val="2484887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8BF87-7977-F932-B322-461FE10F6A12}"/>
              </a:ext>
            </a:extLst>
          </p:cNvPr>
          <p:cNvSpPr>
            <a:spLocks noGrp="1"/>
          </p:cNvSpPr>
          <p:nvPr>
            <p:ph type="title"/>
          </p:nvPr>
        </p:nvSpPr>
        <p:spPr/>
        <p:txBody>
          <a:bodyPr/>
          <a:lstStyle/>
          <a:p>
            <a:r>
              <a:rPr lang="en-US" dirty="0"/>
              <a:t>Data Plan</a:t>
            </a:r>
          </a:p>
        </p:txBody>
      </p:sp>
      <p:sp>
        <p:nvSpPr>
          <p:cNvPr id="3" name="Content Placeholder 2">
            <a:extLst>
              <a:ext uri="{FF2B5EF4-FFF2-40B4-BE49-F238E27FC236}">
                <a16:creationId xmlns:a16="http://schemas.microsoft.com/office/drawing/2014/main" id="{C349574D-60FF-E829-242C-A24911970A35}"/>
              </a:ext>
            </a:extLst>
          </p:cNvPr>
          <p:cNvSpPr>
            <a:spLocks noGrp="1"/>
          </p:cNvSpPr>
          <p:nvPr>
            <p:ph idx="1"/>
          </p:nvPr>
        </p:nvSpPr>
        <p:spPr/>
        <p:txBody>
          <a:bodyPr/>
          <a:lstStyle/>
          <a:p>
            <a:r>
              <a:rPr lang="en-US" dirty="0"/>
              <a:t>Sources:</a:t>
            </a:r>
          </a:p>
          <a:p>
            <a:pPr lvl="1"/>
            <a:r>
              <a:rPr lang="en-US" u="sng" dirty="0">
                <a:hlinkClick r:id="rId2"/>
              </a:rPr>
              <a:t>https://www.kaggle.com/datasets/youssefmohmmed/dogs-skin-diseases-image-dataset</a:t>
            </a:r>
            <a:endParaRPr lang="en-US" dirty="0"/>
          </a:p>
          <a:p>
            <a:pPr lvl="1"/>
            <a:r>
              <a:rPr lang="en-US" u="sng" dirty="0">
                <a:hlinkClick r:id="rId3"/>
              </a:rPr>
              <a:t>https://www.kaggle.com/datasets/devdope/skin-disease-raw-dataset</a:t>
            </a:r>
            <a:endParaRPr lang="en-US" sz="2800" dirty="0"/>
          </a:p>
          <a:p>
            <a:r>
              <a:rPr lang="en-US" dirty="0"/>
              <a:t>Size: approximately 2,000 images for the three classes (Sarcoptic, Demodectic, Healthy/Other)</a:t>
            </a:r>
          </a:p>
          <a:p>
            <a:r>
              <a:rPr lang="en-US" dirty="0"/>
              <a:t>Labels: I will need to label. I will use </a:t>
            </a:r>
            <a:r>
              <a:rPr lang="en-US" dirty="0" err="1"/>
              <a:t>Roboflow</a:t>
            </a:r>
            <a:r>
              <a:rPr lang="en-US" dirty="0"/>
              <a:t> to annotate bounding boxes around active lesion sites.</a:t>
            </a:r>
          </a:p>
          <a:p>
            <a:pPr lvl="1"/>
            <a:endParaRPr lang="en-US" u="sng" dirty="0"/>
          </a:p>
          <a:p>
            <a:pPr marL="457200" lvl="1" indent="0">
              <a:buNone/>
            </a:pPr>
            <a:endParaRPr lang="en-US" dirty="0"/>
          </a:p>
          <a:p>
            <a:pPr lvl="1"/>
            <a:endParaRPr lang="en-US" u="sng" dirty="0"/>
          </a:p>
          <a:p>
            <a:pPr lvl="1"/>
            <a:endParaRPr lang="en-US" u="sng" dirty="0"/>
          </a:p>
        </p:txBody>
      </p:sp>
    </p:spTree>
    <p:extLst>
      <p:ext uri="{BB962C8B-B14F-4D97-AF65-F5344CB8AC3E}">
        <p14:creationId xmlns:p14="http://schemas.microsoft.com/office/powerpoint/2010/main" val="450323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52534-4E68-8D21-D4B1-8D790BFDCA93}"/>
              </a:ext>
            </a:extLst>
          </p:cNvPr>
          <p:cNvSpPr>
            <a:spLocks noGrp="1"/>
          </p:cNvSpPr>
          <p:nvPr>
            <p:ph type="title"/>
          </p:nvPr>
        </p:nvSpPr>
        <p:spPr/>
        <p:txBody>
          <a:bodyPr/>
          <a:lstStyle/>
          <a:p>
            <a:r>
              <a:rPr lang="en-US" dirty="0"/>
              <a:t>System Diagram </a:t>
            </a:r>
          </a:p>
        </p:txBody>
      </p:sp>
      <p:graphicFrame>
        <p:nvGraphicFramePr>
          <p:cNvPr id="6" name="Content Placeholder 5">
            <a:extLst>
              <a:ext uri="{FF2B5EF4-FFF2-40B4-BE49-F238E27FC236}">
                <a16:creationId xmlns:a16="http://schemas.microsoft.com/office/drawing/2014/main" id="{835D1BC7-6AF4-4222-EA6E-195A39267CC9}"/>
              </a:ext>
            </a:extLst>
          </p:cNvPr>
          <p:cNvGraphicFramePr>
            <a:graphicFrameLocks noGrp="1"/>
          </p:cNvGraphicFramePr>
          <p:nvPr>
            <p:ph idx="1"/>
            <p:extLst>
              <p:ext uri="{D42A27DB-BD31-4B8C-83A1-F6EECF244321}">
                <p14:modId xmlns:p14="http://schemas.microsoft.com/office/powerpoint/2010/main" val="175748643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11030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9595F-C58C-47AE-C3A0-4A4DA5BD4E1A}"/>
              </a:ext>
            </a:extLst>
          </p:cNvPr>
          <p:cNvSpPr>
            <a:spLocks noGrp="1"/>
          </p:cNvSpPr>
          <p:nvPr>
            <p:ph type="title"/>
          </p:nvPr>
        </p:nvSpPr>
        <p:spPr/>
        <p:txBody>
          <a:bodyPr/>
          <a:lstStyle/>
          <a:p>
            <a:r>
              <a:rPr lang="en-US" dirty="0"/>
              <a:t>Success Metrics</a:t>
            </a:r>
          </a:p>
        </p:txBody>
      </p:sp>
      <p:sp>
        <p:nvSpPr>
          <p:cNvPr id="3" name="Content Placeholder 2">
            <a:extLst>
              <a:ext uri="{FF2B5EF4-FFF2-40B4-BE49-F238E27FC236}">
                <a16:creationId xmlns:a16="http://schemas.microsoft.com/office/drawing/2014/main" id="{F865E4A5-A5C8-69E5-EE72-EF9C445D71D9}"/>
              </a:ext>
            </a:extLst>
          </p:cNvPr>
          <p:cNvSpPr>
            <a:spLocks noGrp="1"/>
          </p:cNvSpPr>
          <p:nvPr>
            <p:ph idx="1"/>
          </p:nvPr>
        </p:nvSpPr>
        <p:spPr/>
        <p:txBody>
          <a:bodyPr/>
          <a:lstStyle/>
          <a:p>
            <a:r>
              <a:rPr lang="en-US" dirty="0"/>
              <a:t>Primary Metric: mAP@50</a:t>
            </a:r>
          </a:p>
          <a:p>
            <a:r>
              <a:rPr lang="en-US" dirty="0"/>
              <a:t>Target: 85%+ detection accuracy</a:t>
            </a:r>
          </a:p>
          <a:p>
            <a:r>
              <a:rPr lang="en-US" dirty="0"/>
              <a:t>Secondary Metric: Processing time &lt; 2 second per image</a:t>
            </a:r>
          </a:p>
          <a:p>
            <a:endParaRPr lang="en-US" dirty="0"/>
          </a:p>
          <a:p>
            <a:pPr marL="0" indent="0">
              <a:buNone/>
            </a:pPr>
            <a:r>
              <a:rPr lang="en-US" dirty="0"/>
              <a:t>Success= 85%+</a:t>
            </a:r>
            <a:r>
              <a:rPr lang="en-US" dirty="0" err="1"/>
              <a:t>mAP</a:t>
            </a:r>
            <a:r>
              <a:rPr lang="en-US" dirty="0"/>
              <a:t> AND &lt;2 second processing time per image</a:t>
            </a:r>
          </a:p>
        </p:txBody>
      </p:sp>
    </p:spTree>
    <p:extLst>
      <p:ext uri="{BB962C8B-B14F-4D97-AF65-F5344CB8AC3E}">
        <p14:creationId xmlns:p14="http://schemas.microsoft.com/office/powerpoint/2010/main" val="840548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69AE9-09C8-A55A-9807-1CB413B4276A}"/>
              </a:ext>
            </a:extLst>
          </p:cNvPr>
          <p:cNvSpPr>
            <a:spLocks noGrp="1"/>
          </p:cNvSpPr>
          <p:nvPr>
            <p:ph type="title"/>
          </p:nvPr>
        </p:nvSpPr>
        <p:spPr/>
        <p:txBody>
          <a:bodyPr/>
          <a:lstStyle/>
          <a:p>
            <a:r>
              <a:rPr lang="en-US" dirty="0"/>
              <a:t>Week-by-Week Plan</a:t>
            </a:r>
          </a:p>
        </p:txBody>
      </p:sp>
      <p:graphicFrame>
        <p:nvGraphicFramePr>
          <p:cNvPr id="4" name="Content Placeholder 3">
            <a:extLst>
              <a:ext uri="{FF2B5EF4-FFF2-40B4-BE49-F238E27FC236}">
                <a16:creationId xmlns:a16="http://schemas.microsoft.com/office/drawing/2014/main" id="{DD29B0DA-E981-E2C7-4B1D-CE391987A65A}"/>
              </a:ext>
            </a:extLst>
          </p:cNvPr>
          <p:cNvGraphicFramePr>
            <a:graphicFrameLocks noGrp="1"/>
          </p:cNvGraphicFramePr>
          <p:nvPr>
            <p:ph idx="1"/>
            <p:extLst>
              <p:ext uri="{D42A27DB-BD31-4B8C-83A1-F6EECF244321}">
                <p14:modId xmlns:p14="http://schemas.microsoft.com/office/powerpoint/2010/main" val="139018141"/>
              </p:ext>
            </p:extLst>
          </p:nvPr>
        </p:nvGraphicFramePr>
        <p:xfrm>
          <a:off x="838200" y="1825625"/>
          <a:ext cx="10515597" cy="4195721"/>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948041203"/>
                    </a:ext>
                  </a:extLst>
                </a:gridCol>
                <a:gridCol w="3505199">
                  <a:extLst>
                    <a:ext uri="{9D8B030D-6E8A-4147-A177-3AD203B41FA5}">
                      <a16:colId xmlns:a16="http://schemas.microsoft.com/office/drawing/2014/main" val="2801115973"/>
                    </a:ext>
                  </a:extLst>
                </a:gridCol>
                <a:gridCol w="3505199">
                  <a:extLst>
                    <a:ext uri="{9D8B030D-6E8A-4147-A177-3AD203B41FA5}">
                      <a16:colId xmlns:a16="http://schemas.microsoft.com/office/drawing/2014/main" val="1630002977"/>
                    </a:ext>
                  </a:extLst>
                </a:gridCol>
              </a:tblGrid>
              <a:tr h="619401">
                <a:tc>
                  <a:txBody>
                    <a:bodyPr/>
                    <a:lstStyle/>
                    <a:p>
                      <a:r>
                        <a:rPr lang="en-US" dirty="0"/>
                        <a:t>Week</a:t>
                      </a:r>
                    </a:p>
                  </a:txBody>
                  <a:tcPr/>
                </a:tc>
                <a:tc>
                  <a:txBody>
                    <a:bodyPr/>
                    <a:lstStyle/>
                    <a:p>
                      <a:r>
                        <a:rPr lang="en-US" dirty="0"/>
                        <a:t>Tasks</a:t>
                      </a:r>
                    </a:p>
                  </a:txBody>
                  <a:tcPr/>
                </a:tc>
                <a:tc>
                  <a:txBody>
                    <a:bodyPr/>
                    <a:lstStyle/>
                    <a:p>
                      <a:r>
                        <a:rPr lang="en-US" dirty="0"/>
                        <a:t>Milestone</a:t>
                      </a:r>
                    </a:p>
                  </a:txBody>
                  <a:tcPr/>
                </a:tc>
                <a:extLst>
                  <a:ext uri="{0D108BD9-81ED-4DB2-BD59-A6C34878D82A}">
                    <a16:rowId xmlns:a16="http://schemas.microsoft.com/office/drawing/2014/main" val="1992894382"/>
                  </a:ext>
                </a:extLst>
              </a:tr>
              <a:tr h="370840">
                <a:tc>
                  <a:txBody>
                    <a:bodyPr/>
                    <a:lstStyle/>
                    <a:p>
                      <a:r>
                        <a:rPr lang="en-US" dirty="0"/>
                        <a:t>Week 10</a:t>
                      </a:r>
                    </a:p>
                  </a:txBody>
                  <a:tcPr/>
                </a:tc>
                <a:tc>
                  <a:txBody>
                    <a:bodyPr/>
                    <a:lstStyle/>
                    <a:p>
                      <a:r>
                        <a:rPr lang="en-US" dirty="0"/>
                        <a:t>Finalize dataset from Kaggle, begin image labeling in </a:t>
                      </a:r>
                      <a:r>
                        <a:rPr lang="en-US" dirty="0" err="1"/>
                        <a:t>Roboflow</a:t>
                      </a:r>
                      <a:endParaRPr lang="en-US" dirty="0"/>
                    </a:p>
                  </a:txBody>
                  <a:tcPr/>
                </a:tc>
                <a:tc>
                  <a:txBody>
                    <a:bodyPr/>
                    <a:lstStyle/>
                    <a:p>
                      <a:r>
                        <a:rPr lang="en-US" dirty="0"/>
                        <a:t>Dataset Ready</a:t>
                      </a:r>
                    </a:p>
                  </a:txBody>
                  <a:tcPr/>
                </a:tc>
                <a:extLst>
                  <a:ext uri="{0D108BD9-81ED-4DB2-BD59-A6C34878D82A}">
                    <a16:rowId xmlns:a16="http://schemas.microsoft.com/office/drawing/2014/main" val="1466984046"/>
                  </a:ext>
                </a:extLst>
              </a:tr>
              <a:tr h="370840">
                <a:tc>
                  <a:txBody>
                    <a:bodyPr/>
                    <a:lstStyle/>
                    <a:p>
                      <a:r>
                        <a:rPr lang="en-US" dirty="0"/>
                        <a:t>Week 11</a:t>
                      </a:r>
                    </a:p>
                  </a:txBody>
                  <a:tcPr/>
                </a:tc>
                <a:tc>
                  <a:txBody>
                    <a:bodyPr/>
                    <a:lstStyle/>
                    <a:p>
                      <a:r>
                        <a:rPr lang="en-US" dirty="0"/>
                        <a:t>Set up YOLOv8, run initial model training</a:t>
                      </a:r>
                    </a:p>
                  </a:txBody>
                  <a:tcPr/>
                </a:tc>
                <a:tc>
                  <a:txBody>
                    <a:bodyPr/>
                    <a:lstStyle/>
                    <a:p>
                      <a:r>
                        <a:rPr lang="en-US" dirty="0"/>
                        <a:t>Initial Model Working</a:t>
                      </a:r>
                    </a:p>
                  </a:txBody>
                  <a:tcPr/>
                </a:tc>
                <a:extLst>
                  <a:ext uri="{0D108BD9-81ED-4DB2-BD59-A6C34878D82A}">
                    <a16:rowId xmlns:a16="http://schemas.microsoft.com/office/drawing/2014/main" val="3334977664"/>
                  </a:ext>
                </a:extLst>
              </a:tr>
              <a:tr h="370840">
                <a:tc>
                  <a:txBody>
                    <a:bodyPr/>
                    <a:lstStyle/>
                    <a:p>
                      <a:r>
                        <a:rPr lang="en-US" dirty="0"/>
                        <a:t>Week 12</a:t>
                      </a:r>
                    </a:p>
                  </a:txBody>
                  <a:tcPr/>
                </a:tc>
                <a:tc>
                  <a:txBody>
                    <a:bodyPr/>
                    <a:lstStyle/>
                    <a:p>
                      <a:r>
                        <a:rPr lang="en-US" dirty="0"/>
                        <a:t>Evaluate model performance</a:t>
                      </a:r>
                    </a:p>
                  </a:txBody>
                  <a:tcPr/>
                </a:tc>
                <a:tc>
                  <a:txBody>
                    <a:bodyPr/>
                    <a:lstStyle/>
                    <a:p>
                      <a:r>
                        <a:rPr lang="en-US" dirty="0"/>
                        <a:t>Improved Accuracy</a:t>
                      </a:r>
                    </a:p>
                  </a:txBody>
                  <a:tcPr/>
                </a:tc>
                <a:extLst>
                  <a:ext uri="{0D108BD9-81ED-4DB2-BD59-A6C34878D82A}">
                    <a16:rowId xmlns:a16="http://schemas.microsoft.com/office/drawing/2014/main" val="2594178161"/>
                  </a:ext>
                </a:extLst>
              </a:tr>
              <a:tr h="370840">
                <a:tc>
                  <a:txBody>
                    <a:bodyPr/>
                    <a:lstStyle/>
                    <a:p>
                      <a:r>
                        <a:rPr lang="en-US" dirty="0"/>
                        <a:t>Week 13</a:t>
                      </a:r>
                    </a:p>
                  </a:txBody>
                  <a:tcPr/>
                </a:tc>
                <a:tc>
                  <a:txBody>
                    <a:bodyPr/>
                    <a:lstStyle/>
                    <a:p>
                      <a:r>
                        <a:rPr lang="en-US" dirty="0"/>
                        <a:t>Develop a simple demo showing the AI in action</a:t>
                      </a:r>
                    </a:p>
                  </a:txBody>
                  <a:tcPr/>
                </a:tc>
                <a:tc>
                  <a:txBody>
                    <a:bodyPr/>
                    <a:lstStyle/>
                    <a:p>
                      <a:r>
                        <a:rPr lang="en-US" dirty="0"/>
                        <a:t>Demo Ready</a:t>
                      </a:r>
                    </a:p>
                  </a:txBody>
                  <a:tcPr/>
                </a:tc>
                <a:extLst>
                  <a:ext uri="{0D108BD9-81ED-4DB2-BD59-A6C34878D82A}">
                    <a16:rowId xmlns:a16="http://schemas.microsoft.com/office/drawing/2014/main" val="1465788858"/>
                  </a:ext>
                </a:extLst>
              </a:tr>
              <a:tr h="370840">
                <a:tc>
                  <a:txBody>
                    <a:bodyPr/>
                    <a:lstStyle/>
                    <a:p>
                      <a:r>
                        <a:rPr lang="en-US" dirty="0"/>
                        <a:t>Week 14</a:t>
                      </a:r>
                    </a:p>
                  </a:txBody>
                  <a:tcPr/>
                </a:tc>
                <a:tc>
                  <a:txBody>
                    <a:bodyPr/>
                    <a:lstStyle/>
                    <a:p>
                      <a:r>
                        <a:rPr lang="en-US" dirty="0"/>
                        <a:t>Conduct final testing, bug fixes, and complete GitHub documentation.</a:t>
                      </a:r>
                    </a:p>
                  </a:txBody>
                  <a:tcPr/>
                </a:tc>
                <a:tc>
                  <a:txBody>
                    <a:bodyPr/>
                    <a:lstStyle/>
                    <a:p>
                      <a:r>
                        <a:rPr lang="en-US" dirty="0"/>
                        <a:t>Project Complete</a:t>
                      </a:r>
                    </a:p>
                  </a:txBody>
                  <a:tcPr/>
                </a:tc>
                <a:extLst>
                  <a:ext uri="{0D108BD9-81ED-4DB2-BD59-A6C34878D82A}">
                    <a16:rowId xmlns:a16="http://schemas.microsoft.com/office/drawing/2014/main" val="2999878481"/>
                  </a:ext>
                </a:extLst>
              </a:tr>
              <a:tr h="370840">
                <a:tc>
                  <a:txBody>
                    <a:bodyPr/>
                    <a:lstStyle/>
                    <a:p>
                      <a:r>
                        <a:rPr lang="en-US" dirty="0"/>
                        <a:t>Week 15</a:t>
                      </a:r>
                    </a:p>
                  </a:txBody>
                  <a:tcPr/>
                </a:tc>
                <a:tc>
                  <a:txBody>
                    <a:bodyPr/>
                    <a:lstStyle/>
                    <a:p>
                      <a:r>
                        <a:rPr lang="en-US" dirty="0"/>
                        <a:t>Final review of results</a:t>
                      </a:r>
                    </a:p>
                  </a:txBody>
                  <a:tcPr/>
                </a:tc>
                <a:tc>
                  <a:txBody>
                    <a:bodyPr/>
                    <a:lstStyle/>
                    <a:p>
                      <a:r>
                        <a:rPr lang="en-US" dirty="0"/>
                        <a:t>Final Presentation</a:t>
                      </a:r>
                    </a:p>
                  </a:txBody>
                  <a:tcPr/>
                </a:tc>
                <a:extLst>
                  <a:ext uri="{0D108BD9-81ED-4DB2-BD59-A6C34878D82A}">
                    <a16:rowId xmlns:a16="http://schemas.microsoft.com/office/drawing/2014/main" val="756804401"/>
                  </a:ext>
                </a:extLst>
              </a:tr>
            </a:tbl>
          </a:graphicData>
        </a:graphic>
      </p:graphicFrame>
    </p:spTree>
    <p:extLst>
      <p:ext uri="{BB962C8B-B14F-4D97-AF65-F5344CB8AC3E}">
        <p14:creationId xmlns:p14="http://schemas.microsoft.com/office/powerpoint/2010/main" val="2868201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DDD0B-39F4-31D3-AB3D-C1E2720C3AEE}"/>
              </a:ext>
            </a:extLst>
          </p:cNvPr>
          <p:cNvSpPr>
            <a:spLocks noGrp="1"/>
          </p:cNvSpPr>
          <p:nvPr>
            <p:ph type="title"/>
          </p:nvPr>
        </p:nvSpPr>
        <p:spPr/>
        <p:txBody>
          <a:bodyPr/>
          <a:lstStyle/>
          <a:p>
            <a:r>
              <a:rPr lang="en-US" dirty="0"/>
              <a:t>Challenges &amp; Backup Plans</a:t>
            </a:r>
          </a:p>
        </p:txBody>
      </p:sp>
      <p:sp>
        <p:nvSpPr>
          <p:cNvPr id="3" name="Content Placeholder 2">
            <a:extLst>
              <a:ext uri="{FF2B5EF4-FFF2-40B4-BE49-F238E27FC236}">
                <a16:creationId xmlns:a16="http://schemas.microsoft.com/office/drawing/2014/main" id="{1D7E0CA1-FFDB-D658-E822-7F607A9B442E}"/>
              </a:ext>
            </a:extLst>
          </p:cNvPr>
          <p:cNvSpPr>
            <a:spLocks noGrp="1"/>
          </p:cNvSpPr>
          <p:nvPr>
            <p:ph idx="1"/>
          </p:nvPr>
        </p:nvSpPr>
        <p:spPr/>
        <p:txBody>
          <a:bodyPr/>
          <a:lstStyle/>
          <a:p>
            <a:r>
              <a:rPr lang="en-US" dirty="0"/>
              <a:t>Challenge: What if there aren’t enough clear images of Sarcoptic mange?</a:t>
            </a:r>
          </a:p>
          <a:p>
            <a:pPr lvl="1"/>
            <a:r>
              <a:rPr lang="en-US" dirty="0"/>
              <a:t>Plan B: Enhance the images by adjusting brightness, rotating etc. to increase my dataset.</a:t>
            </a:r>
          </a:p>
          <a:p>
            <a:r>
              <a:rPr lang="en-US" dirty="0"/>
              <a:t>Challenge: What if the model gets confused by different fur colors.</a:t>
            </a:r>
          </a:p>
          <a:p>
            <a:pPr lvl="1"/>
            <a:r>
              <a:rPr lang="en-US" dirty="0"/>
              <a:t>Plan B: Process images to crop specifically on the skin lesion, to remove the distraction on the fur color.</a:t>
            </a:r>
          </a:p>
          <a:p>
            <a:pPr lvl="1"/>
            <a:endParaRPr lang="en-US" dirty="0"/>
          </a:p>
        </p:txBody>
      </p:sp>
    </p:spTree>
    <p:extLst>
      <p:ext uri="{BB962C8B-B14F-4D97-AF65-F5344CB8AC3E}">
        <p14:creationId xmlns:p14="http://schemas.microsoft.com/office/powerpoint/2010/main" val="931406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3571E-54F5-4674-DD7D-A37197E3B926}"/>
              </a:ext>
            </a:extLst>
          </p:cNvPr>
          <p:cNvSpPr>
            <a:spLocks noGrp="1"/>
          </p:cNvSpPr>
          <p:nvPr>
            <p:ph type="title"/>
          </p:nvPr>
        </p:nvSpPr>
        <p:spPr/>
        <p:txBody>
          <a:bodyPr/>
          <a:lstStyle/>
          <a:p>
            <a:r>
              <a:rPr lang="en-US" dirty="0"/>
              <a:t>Resources Needed</a:t>
            </a:r>
          </a:p>
        </p:txBody>
      </p:sp>
      <p:sp>
        <p:nvSpPr>
          <p:cNvPr id="3" name="Content Placeholder 2">
            <a:extLst>
              <a:ext uri="{FF2B5EF4-FFF2-40B4-BE49-F238E27FC236}">
                <a16:creationId xmlns:a16="http://schemas.microsoft.com/office/drawing/2014/main" id="{32CF7520-7081-75BC-E76E-632CCE2CB847}"/>
              </a:ext>
            </a:extLst>
          </p:cNvPr>
          <p:cNvSpPr>
            <a:spLocks noGrp="1"/>
          </p:cNvSpPr>
          <p:nvPr>
            <p:ph idx="1"/>
          </p:nvPr>
        </p:nvSpPr>
        <p:spPr/>
        <p:txBody>
          <a:bodyPr/>
          <a:lstStyle/>
          <a:p>
            <a:r>
              <a:rPr lang="en-US" dirty="0"/>
              <a:t>Compute: Google </a:t>
            </a:r>
            <a:r>
              <a:rPr lang="en-US" dirty="0" err="1"/>
              <a:t>Colab</a:t>
            </a:r>
            <a:endParaRPr lang="en-US" dirty="0"/>
          </a:p>
          <a:p>
            <a:r>
              <a:rPr lang="en-US" dirty="0"/>
              <a:t>Tools: </a:t>
            </a:r>
            <a:r>
              <a:rPr lang="en-US" dirty="0" err="1"/>
              <a:t>Roboflow</a:t>
            </a:r>
            <a:r>
              <a:rPr lang="en-US" dirty="0"/>
              <a:t>, YOLOv8, GitHub</a:t>
            </a:r>
          </a:p>
          <a:p>
            <a:r>
              <a:rPr lang="en-US" dirty="0"/>
              <a:t>Cost: $0</a:t>
            </a:r>
          </a:p>
        </p:txBody>
      </p:sp>
    </p:spTree>
    <p:extLst>
      <p:ext uri="{BB962C8B-B14F-4D97-AF65-F5344CB8AC3E}">
        <p14:creationId xmlns:p14="http://schemas.microsoft.com/office/powerpoint/2010/main" val="39060980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TotalTime>
  <Words>581</Words>
  <Application>Microsoft Office PowerPoint</Application>
  <PresentationFormat>Widescreen</PresentationFormat>
  <Paragraphs>65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MangeVision: Differentiating Sarcoptic vs Demodectic Mange</vt:lpstr>
      <vt:lpstr>The Problem</vt:lpstr>
      <vt:lpstr>My Solution</vt:lpstr>
      <vt:lpstr>Technical Approach</vt:lpstr>
      <vt:lpstr>Data Plan</vt:lpstr>
      <vt:lpstr>System Diagram </vt:lpstr>
      <vt:lpstr>Success Metrics</vt:lpstr>
      <vt:lpstr>Week-by-Week Plan</vt:lpstr>
      <vt:lpstr>Challenges &amp; Backup Plans</vt:lpstr>
      <vt:lpstr>Resources Needed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Anikka Williams</dc:creator>
  <cp:lastModifiedBy>Anikka Williams</cp:lastModifiedBy>
  <cp:revision>1</cp:revision>
  <dcterms:created xsi:type="dcterms:W3CDTF">2026-03-05T06:08:15Z</dcterms:created>
  <dcterms:modified xsi:type="dcterms:W3CDTF">2026-05-07T04:34:58Z</dcterms:modified>
</cp:coreProperties>
</file>